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8ef897287f4531" /><Relationship Type="http://schemas.openxmlformats.org/officeDocument/2006/relationships/extended-properties" Target="/docProps/app.xml" Id="R0b66b63a9a0841f2" /><Relationship Type="http://schemas.openxmlformats.org/officeDocument/2006/relationships/officeDocument" Target="/ppt/presentation.xml" Id="R9e43b8631ab841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e062073b2e47f1"/>
  </p:sldMasterIdLst>
  <p:notesMasterIdLst>
    <p:notesMasterId xmlns:r="http://schemas.openxmlformats.org/officeDocument/2006/relationships" r:id="R4111db20db044c0e"/>
  </p:notesMasterIdLst>
  <p:sldIdLst>
    <p:sldId xmlns:r="http://schemas.openxmlformats.org/officeDocument/2006/relationships" id="256" r:id="Rc361c37e04c04b01"/>
    <p:sldId xmlns:r="http://schemas.openxmlformats.org/officeDocument/2006/relationships" id="257" r:id="R255403cd1ae04eff"/>
    <p:sldId xmlns:r="http://schemas.openxmlformats.org/officeDocument/2006/relationships" id="258" r:id="R87608e9f9ffd40bd"/>
    <p:sldId xmlns:r="http://schemas.openxmlformats.org/officeDocument/2006/relationships" id="259" r:id="R6d4d65faffa3400e"/>
    <p:sldId xmlns:r="http://schemas.openxmlformats.org/officeDocument/2006/relationships" id="260" r:id="R661f0918401f42f7"/>
    <p:sldId xmlns:r="http://schemas.openxmlformats.org/officeDocument/2006/relationships" id="261" r:id="Ra1bb4108ee7d4ec7"/>
    <p:sldId xmlns:r="http://schemas.openxmlformats.org/officeDocument/2006/relationships" id="262" r:id="R8e4992b919aa484d"/>
    <p:sldId xmlns:r="http://schemas.openxmlformats.org/officeDocument/2006/relationships" id="263" r:id="R79e8c3d48fee4965"/>
    <p:sldId xmlns:r="http://schemas.openxmlformats.org/officeDocument/2006/relationships" id="264" r:id="R31d69edb2bdd41bc"/>
    <p:sldId xmlns:r="http://schemas.openxmlformats.org/officeDocument/2006/relationships" id="265" r:id="Raebf585ac6384d13"/>
    <p:sldId xmlns:r="http://schemas.openxmlformats.org/officeDocument/2006/relationships" id="266" r:id="R735e16b2c57c45b8"/>
    <p:sldId xmlns:r="http://schemas.openxmlformats.org/officeDocument/2006/relationships" id="267" r:id="Rb11304c128c443ec"/>
    <p:sldId xmlns:r="http://schemas.openxmlformats.org/officeDocument/2006/relationships" id="268" r:id="R6e1f9f6529784c42"/>
    <p:sldId xmlns:r="http://schemas.openxmlformats.org/officeDocument/2006/relationships" id="269" r:id="Rfd76304362114d07"/>
    <p:sldId xmlns:r="http://schemas.openxmlformats.org/officeDocument/2006/relationships" id="270" r:id="Ra6f0da10285c4e83"/>
    <p:sldId xmlns:r="http://schemas.openxmlformats.org/officeDocument/2006/relationships" id="271" r:id="Rb1d8397232844b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82049c959b40de" /><Relationship Type="http://schemas.openxmlformats.org/officeDocument/2006/relationships/slideMaster" Target="/ppt/slideMasters/slideMaster1.xml" Id="R88e062073b2e47f1" /><Relationship Type="http://schemas.openxmlformats.org/officeDocument/2006/relationships/notesMaster" Target="/ppt/notesMasters/notesMaster1.xml" Id="R4111db20db044c0e" /><Relationship Type="http://schemas.openxmlformats.org/officeDocument/2006/relationships/presProps" Target="/ppt/presProps.xml" Id="R1f3d4e41cdcb40a9" /><Relationship Type="http://schemas.openxmlformats.org/officeDocument/2006/relationships/tableStyles" Target="/ppt/tableStyles.xml" Id="Raf259447ae814eb5" /><Relationship Type="http://schemas.openxmlformats.org/officeDocument/2006/relationships/slide" Target="/ppt/slides/slide1.xml" Id="Rc361c37e04c04b01" /><Relationship Type="http://schemas.openxmlformats.org/officeDocument/2006/relationships/slide" Target="/ppt/slides/slide2.xml" Id="R255403cd1ae04eff" /><Relationship Type="http://schemas.openxmlformats.org/officeDocument/2006/relationships/slide" Target="/ppt/slides/slide3.xml" Id="R87608e9f9ffd40bd" /><Relationship Type="http://schemas.openxmlformats.org/officeDocument/2006/relationships/slide" Target="/ppt/slides/slide4.xml" Id="R6d4d65faffa3400e" /><Relationship Type="http://schemas.openxmlformats.org/officeDocument/2006/relationships/slide" Target="/ppt/slides/slide5.xml" Id="R661f0918401f42f7" /><Relationship Type="http://schemas.openxmlformats.org/officeDocument/2006/relationships/slide" Target="/ppt/slides/slide6.xml" Id="Ra1bb4108ee7d4ec7" /><Relationship Type="http://schemas.openxmlformats.org/officeDocument/2006/relationships/slide" Target="/ppt/slides/slide7.xml" Id="R8e4992b919aa484d" /><Relationship Type="http://schemas.openxmlformats.org/officeDocument/2006/relationships/slide" Target="/ppt/slides/slide8.xml" Id="R79e8c3d48fee4965" /><Relationship Type="http://schemas.openxmlformats.org/officeDocument/2006/relationships/slide" Target="/ppt/slides/slide9.xml" Id="R31d69edb2bdd41bc" /><Relationship Type="http://schemas.openxmlformats.org/officeDocument/2006/relationships/slide" Target="/ppt/slides/slide10.xml" Id="Raebf585ac6384d13" /><Relationship Type="http://schemas.openxmlformats.org/officeDocument/2006/relationships/slide" Target="/ppt/slides/slide11.xml" Id="R735e16b2c57c45b8" /><Relationship Type="http://schemas.openxmlformats.org/officeDocument/2006/relationships/slide" Target="/ppt/slides/slide12.xml" Id="Rb11304c128c443ec" /><Relationship Type="http://schemas.openxmlformats.org/officeDocument/2006/relationships/slide" Target="/ppt/slides/slide13.xml" Id="R6e1f9f6529784c42" /><Relationship Type="http://schemas.openxmlformats.org/officeDocument/2006/relationships/slide" Target="/ppt/slides/slide14.xml" Id="Rfd76304362114d07" /><Relationship Type="http://schemas.openxmlformats.org/officeDocument/2006/relationships/slide" Target="/ppt/slides/slide15.xml" Id="Ra6f0da10285c4e83" /><Relationship Type="http://schemas.openxmlformats.org/officeDocument/2006/relationships/slide" Target="/ppt/slides/slide16.xml" Id="Rb1d8397232844b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d4cea02c464e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373e0799e84c67" /><Relationship Type="http://schemas.openxmlformats.org/officeDocument/2006/relationships/notesMaster" Target="/ppt/notesMasters/notesMaster1.xml" Id="Reb6707ff5d1f43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c55c0c4ea348d2" /><Relationship Type="http://schemas.openxmlformats.org/officeDocument/2006/relationships/notesMaster" Target="/ppt/notesMasters/notesMaster1.xml" Id="Raf3a9602786e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86304a96db4b35" /><Relationship Type="http://schemas.openxmlformats.org/officeDocument/2006/relationships/notesMaster" Target="/ppt/notesMasters/notesMaster1.xml" Id="Re4019e5d641441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b1af6bcbdf49d5" /><Relationship Type="http://schemas.openxmlformats.org/officeDocument/2006/relationships/notesMaster" Target="/ppt/notesMasters/notesMaster1.xml" Id="R3531ca55291b46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161a573e9e49df" /><Relationship Type="http://schemas.openxmlformats.org/officeDocument/2006/relationships/notesMaster" Target="/ppt/notesMasters/notesMaster1.xml" Id="R92ed186d962b40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320b74cdc046bd" /><Relationship Type="http://schemas.openxmlformats.org/officeDocument/2006/relationships/notesMaster" Target="/ppt/notesMasters/notesMaster1.xml" Id="R249c000558044e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be16d950c44644" /><Relationship Type="http://schemas.openxmlformats.org/officeDocument/2006/relationships/notesMaster" Target="/ppt/notesMasters/notesMaster1.xml" Id="R661267c9874146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183631a604d0d" /><Relationship Type="http://schemas.openxmlformats.org/officeDocument/2006/relationships/notesMaster" Target="/ppt/notesMasters/notesMaster1.xml" Id="R3c295d24d73949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29fb2c6ad9486b" /><Relationship Type="http://schemas.openxmlformats.org/officeDocument/2006/relationships/notesMaster" Target="/ppt/notesMasters/notesMaster1.xml" Id="R03911797309045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08d196eb1249f6" /><Relationship Type="http://schemas.openxmlformats.org/officeDocument/2006/relationships/notesMaster" Target="/ppt/notesMasters/notesMaster1.xml" Id="R552a3592218b45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2554ff812548f9" /><Relationship Type="http://schemas.openxmlformats.org/officeDocument/2006/relationships/notesMaster" Target="/ppt/notesMasters/notesMaster1.xml" Id="R89f7d0d2adce41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32aeb512e54af9" /><Relationship Type="http://schemas.openxmlformats.org/officeDocument/2006/relationships/notesMaster" Target="/ppt/notesMasters/notesMaster1.xml" Id="Rae5517fbe0ad46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bed8d9b19c45a9" /><Relationship Type="http://schemas.openxmlformats.org/officeDocument/2006/relationships/notesMaster" Target="/ppt/notesMasters/notesMaster1.xml" Id="R17a6da9bf87e44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df61e2127a474b" /><Relationship Type="http://schemas.openxmlformats.org/officeDocument/2006/relationships/notesMaster" Target="/ppt/notesMasters/notesMaster1.xml" Id="R050553d5632e46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0c9ba5358a48fc" /><Relationship Type="http://schemas.openxmlformats.org/officeDocument/2006/relationships/notesMaster" Target="/ppt/notesMasters/notesMaster1.xml" Id="R233114db055348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a310752a754b3c" /><Relationship Type="http://schemas.openxmlformats.org/officeDocument/2006/relationships/notesMaster" Target="/ppt/notesMasters/notesMaster1.xml" Id="Rdf36e86bfe0949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visual: original AI generated illustration created for this portfolio edition. No third party logo or product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Archived academic presentation inspected locally.</a:t>
            </a:r>
          </a:p>
          <a:p xmlns:a="http://schemas.openxmlformats.org/drawingml/2006/main">
            <a:r>
              <a:t>- University of the Aegean AWID project: https://icsdweb.aegean.gr/awid/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University of the Aegean AWID3 page: https://icsdweb.aegean.gr/awid/awid3</a:t>
            </a:r>
          </a:p>
          <a:p xmlns:a="http://schemas.openxmlformats.org/drawingml/2006/main">
            <a:r>
              <a:t>- Chatzoglou, Kambourakis, and Kolias, IEEE Access 2021, DOI 10.1109/ACCESS.2021.3061609.</a:t>
            </a:r>
          </a:p>
          <a:p xmlns:a="http://schemas.openxmlformats.org/drawingml/2006/main">
            <a:r>
              <a:t>- Record counts are transcribed from the archived academic presentation and marked reported_unverified in data/dataset_summary.csv.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Chatzoglou, Kambourakis, and Kolias, IEEE Access 2021, DOI 10.1109/ACCESS.2021.3061609.</a:t>
            </a:r>
          </a:p>
          <a:p xmlns:a="http://schemas.openxmlformats.org/drawingml/2006/main">
            <a:r>
              <a:t>- University of the Aegean AWID3 attack descriptions: https://icsdweb.aegean.gr/awid/awid3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Chatzoglou et al., Pick Quality Over Quantity, IEEE Access 2022, DOI 10.1109/ACCESS.2022.3183597.</a:t>
            </a:r>
          </a:p>
          <a:p xmlns:a="http://schemas.openxmlformats.org/drawingml/2006/main">
            <a:r>
              <a:t>- Feature dictionary in data/feature_dictionary.csv.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Scikit learn GroupShuffleSplit: https://scikit-learn.org/stable/modules/generated/sklearn.model_selection.GroupShuffleSplit.html</a:t>
            </a:r>
          </a:p>
          <a:p xmlns:a="http://schemas.openxmlformats.org/drawingml/2006/main">
            <a:r>
              <a:t>- The grouped split is documented by the archived presentation; the exact split manifest was not 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Reported values transcribed from the archived academic presentation and stored in data/results/model_metrics.csv.</a:t>
            </a:r>
          </a:p>
          <a:p xmlns:a="http://schemas.openxmlformats.org/drawingml/2006/main">
            <a:r>
              <a:t>- Arithmetic check: src/validate_reported_results.py.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Reported values transcribed from the archived academic presentation and stored in data/results/class_f1.csv.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Reported values transcribed from the archived academic presentation and stored in data/results/model_metrics.csv.</a:t>
            </a:r>
          </a:p>
          <a:p xmlns:a="http://schemas.openxmlformats.org/drawingml/2006/main">
            <a:r>
              <a:t>- The original hardware details and execution logs were not 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Class F1 and confusion summaries are preserved in data/results/ with reported_unverified status.</a:t>
            </a:r>
          </a:p>
          <a:p xmlns:a="http://schemas.openxmlformats.org/drawingml/2006/main">
            <a:r>
              <a:t>- Claim correction documented in docs/claim-audit.md.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Chatzoglou et al., Pick Quality Over Quantity, IEEE Access 2022, DOI 10.1109/ACCESS.2022.3183597.</a:t>
            </a:r>
          </a:p>
          <a:p xmlns:a="http://schemas.openxmlformats.org/drawingml/2006/main">
            <a:r>
              <a:t>- Interpretations are detection engineering hypotheses, not causal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Architecture is a portfolio extension derived from docs/detection-engineering-blueprint.md.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Reproducibility record: docs/reproducibility.md.</a:t>
            </a:r>
          </a:p>
          <a:p xmlns:a="http://schemas.openxmlformats.org/drawingml/2006/main">
            <a:r>
              <a:t>- Claim audit: docs/claim-audit.md.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Implementation sequence is documented in the report and docs/detection-engineering-blueprint.md.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Complete references: docs/references.md.</a:t>
            </a:r>
          </a:p>
          <a:p xmlns:a="http://schemas.openxmlformats.org/drawingml/2006/main">
            <a:r>
              <a:t>- Licensing: source code under MIT; report, presentation, result transcriptions, and coursework derived material all rights 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13bda939e4e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c089ee1da4f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e0927a16644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a18f57f0748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15267b9cf40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866a2bc3a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4F15B0-FAE6-47C9-BC78-4AA3CD978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DDD324-79C8-48C1-8F39-9F19BDD890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93A204-BDCE-4018-A608-2FFB561A9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978A6C-7420-44A5-83BC-74FCD6901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23121A-B884-4FE3-AE6F-A593881ED3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716C5E-BDE2-47A1-ADD1-A55BDE79D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A33189-CD0F-48AF-999C-F20B9A2017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4A0857-4EFB-4073-801D-EEA326767F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5DD38E-05E5-4627-8444-7173DE2FB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5D12E3-1918-4A06-8C85-069E71395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2a5bbe18d04d1f" /><Relationship Type="http://schemas.openxmlformats.org/officeDocument/2006/relationships/slideLayout" Target="/ppt/slideLayouts/slideLayout1.xml" Id="Rb60a6b7aa0d94eae" /><Relationship Type="http://schemas.openxmlformats.org/officeDocument/2006/relationships/slideLayout" Target="/ppt/slideLayouts/slideLayout2.xml" Id="Rc9f4f994590b4ba1" /><Relationship Type="http://schemas.openxmlformats.org/officeDocument/2006/relationships/slideLayout" Target="/ppt/slideLayouts/slideLayout3.xml" Id="R83917fca3ced4ce1" /><Relationship Type="http://schemas.openxmlformats.org/officeDocument/2006/relationships/slideLayout" Target="/ppt/slideLayouts/slideLayout4.xml" Id="Re4620f7018854e34" /><Relationship Type="http://schemas.openxmlformats.org/officeDocument/2006/relationships/slideLayout" Target="/ppt/slideLayouts/slideLayout5.xml" Id="Re67bee56295144f1" /><Relationship Type="http://schemas.openxmlformats.org/officeDocument/2006/relationships/slideLayout" Target="/ppt/slideLayouts/slideLayout6.xml" Id="R2a54d275c410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0a6b7aa0d94eae"/>
    <p:sldLayoutId xmlns:r="http://schemas.openxmlformats.org/officeDocument/2006/relationships" id="2147483650" r:id="Rc9f4f994590b4ba1"/>
    <p:sldLayoutId xmlns:r="http://schemas.openxmlformats.org/officeDocument/2006/relationships" id="2147483651" r:id="R83917fca3ced4ce1"/>
    <p:sldLayoutId xmlns:r="http://schemas.openxmlformats.org/officeDocument/2006/relationships" id="2147483652" r:id="Re4620f7018854e34"/>
    <p:sldLayoutId xmlns:r="http://schemas.openxmlformats.org/officeDocument/2006/relationships" id="2147483653" r:id="Re67bee56295144f1"/>
    <p:sldLayoutId xmlns:r="http://schemas.openxmlformats.org/officeDocument/2006/relationships" id="2147483654" r:id="R2a54d275c410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c256ebeca406d" /><Relationship Type="http://schemas.openxmlformats.org/officeDocument/2006/relationships/image" Target="/ppt/media/image.png" Id="R5ce6f96b3e344eda" /><Relationship Type="http://schemas.openxmlformats.org/officeDocument/2006/relationships/notesSlide" Target="/ppt/notesSlides/notesSlide1.xml" Id="R989c9704ac9d49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70f8d44b94254" /><Relationship Type="http://schemas.openxmlformats.org/officeDocument/2006/relationships/notesSlide" Target="/ppt/notesSlides/notesSlide2.xml" Id="R4de12e3b650a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aa87bec644cda" /><Relationship Type="http://schemas.openxmlformats.org/officeDocument/2006/relationships/notesSlide" Target="/ppt/notesSlides/notesSlide3.xml" Id="R912bed7ac62a40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e65aaee4a44c7" /><Relationship Type="http://schemas.openxmlformats.org/officeDocument/2006/relationships/chart" Target="/ppt/slides/charts/chart1.xml" Id="Ra89a7585883848ef" /><Relationship Type="http://schemas.openxmlformats.org/officeDocument/2006/relationships/notesSlide" Target="/ppt/notesSlides/notesSlide4.xml" Id="R6ea0b67fff2e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afc2c1bbd4686" /><Relationship Type="http://schemas.openxmlformats.org/officeDocument/2006/relationships/notesSlide" Target="/ppt/notesSlides/notesSlide5.xml" Id="R96676315ece549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3c7d1a87f4f4c" /><Relationship Type="http://schemas.openxmlformats.org/officeDocument/2006/relationships/notesSlide" Target="/ppt/notesSlides/notesSlide6.xml" Id="Rf0c768dfdd5f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d54de65da340a8" /><Relationship Type="http://schemas.openxmlformats.org/officeDocument/2006/relationships/notesSlide" Target="/ppt/notesSlides/notesSlide7.xml" Id="R79fe83fc1b7f41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bca9a1dea4f61" /><Relationship Type="http://schemas.openxmlformats.org/officeDocument/2006/relationships/chart" Target="/ppt/slides/charts/chart2.xml" Id="Rca54c016a16d423a" /><Relationship Type="http://schemas.openxmlformats.org/officeDocument/2006/relationships/notesSlide" Target="/ppt/notesSlides/notesSlide8.xml" Id="R54bccdd369b84c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e711d014a4e81" /><Relationship Type="http://schemas.openxmlformats.org/officeDocument/2006/relationships/chart" Target="/ppt/slides/charts/chart3.xml" Id="R0452cf6a2bee45fa" /><Relationship Type="http://schemas.openxmlformats.org/officeDocument/2006/relationships/notesSlide" Target="/ppt/notesSlides/notesSlide9.xml" Id="Re1403f3ebe7145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e0c7efe62482d" /><Relationship Type="http://schemas.openxmlformats.org/officeDocument/2006/relationships/notesSlide" Target="/ppt/notesSlides/notesSlide10.xml" Id="R305d4889197345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067817cfc4fa3" /><Relationship Type="http://schemas.openxmlformats.org/officeDocument/2006/relationships/notesSlide" Target="/ppt/notesSlides/notesSlide11.xml" Id="Rd41ec5392bd940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354bdbf714116" /><Relationship Type="http://schemas.openxmlformats.org/officeDocument/2006/relationships/notesSlide" Target="/ppt/notesSlides/notesSlide12.xml" Id="R93bba8e5df934c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b80ee27da4d23" /><Relationship Type="http://schemas.openxmlformats.org/officeDocument/2006/relationships/notesSlide" Target="/ppt/notesSlides/notesSlide13.xml" Id="Ree596dfa1c924b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7ed726a064d4c" /><Relationship Type="http://schemas.openxmlformats.org/officeDocument/2006/relationships/notesSlide" Target="/ppt/notesSlides/notesSlide14.xml" Id="R4c3ebf42224e4f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159a0e19a48d1" /><Relationship Type="http://schemas.openxmlformats.org/officeDocument/2006/relationships/notesSlide" Target="/ppt/notesSlides/notesSlide15.xml" Id="R758dfee20e504e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ef65b24814e8f" /><Relationship Type="http://schemas.openxmlformats.org/officeDocument/2006/relationships/notesSlide" Target="/ppt/notesSlides/notesSlide16.xml" Id="R12f805e837fc472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Share</c:v>
          </c:tx>
          <c:dPt>
            <c:idx val="0"/>
            <c:spPr>
              <a:solidFill xmlns:a="http://schemas.openxmlformats.org/drawingml/2006/main">
                <a:srgbClr val="1E88E5"/>
              </a:solidFill>
            </c:spPr>
          </c:dPt>
          <c:dPt>
            <c:idx val="1"/>
            <c:spPr>
              <a:solidFill xmlns:a="http://schemas.openxmlformats.org/drawingml/2006/main">
                <a:srgbClr val="F59E0B"/>
              </a:solidFill>
            </c:spPr>
          </c:dPt>
          <c:dPt>
            <c:idx val="2"/>
            <c:spPr>
              <a:solidFill xmlns:a="http://schemas.openxmlformats.org/drawingml/2006/main">
                <a:srgbClr val="C4453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Normal</c:v>
                </c:pt>
                <c:pt idx="1">
                  <c:v>Flooding</c:v>
                </c:pt>
                <c:pt idx="2">
                  <c:v>Impersonation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96.65</c:v>
                </c:pt>
                <c:pt idx="1">
                  <c:v>2.49</c:v>
                </c:pt>
                <c:pt idx="2">
                  <c:v>0.86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263A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2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4F8FC"/>
    </a:solidFill>
    <a:ln xmlns:a="http://schemas.openxmlformats.org/drawingml/2006/main" w="0">
      <a:solidFill>
        <a:srgbClr val="F4F8FC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E88E5"/>
            </a:solidFill>
          </c:spPr>
          <c:invertIfNegative val="0"/>
          <c:dPt>
            <c:idx val="5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LightGBM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Extra Trees</c:v>
                </c:pt>
                <c:pt idx="4">
                  <c:v>HistGradientBoosting</c:v>
                </c:pt>
                <c:pt idx="5">
                  <c:v>XGBoost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98.19</c:v>
                </c:pt>
                <c:pt idx="1">
                  <c:v>98.34</c:v>
                </c:pt>
                <c:pt idx="2">
                  <c:v>98.36</c:v>
                </c:pt>
                <c:pt idx="3">
                  <c:v>98.39</c:v>
                </c:pt>
                <c:pt idx="4">
                  <c:v>98.66</c:v>
                </c:pt>
                <c:pt idx="5">
                  <c:v>98.74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263A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CE7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C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8FC"/>
        </a:solidFill>
      </c:spPr>
    </c:plotArea>
    <c:plotVisOnly val="1"/>
  </c:chart>
  <c:spPr>
    <a:solidFill xmlns:a="http://schemas.openxmlformats.org/drawingml/2006/main">
      <a:srgbClr val="F4F8FC"/>
    </a:solidFill>
    <a:ln xmlns:a="http://schemas.openxmlformats.org/drawingml/2006/main" w="0">
      <a:solidFill>
        <a:srgbClr val="F4F8FC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Flooding</c:v>
          </c:tx>
          <c:spPr>
            <a:solidFill xmlns:a="http://schemas.openxmlformats.org/drawingml/2006/main">
              <a:srgbClr val="1E88E5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RF</c:v>
                </c:pt>
                <c:pt idx="1">
                  <c:v>ET</c:v>
                </c:pt>
                <c:pt idx="2">
                  <c:v>HistGB</c:v>
                </c:pt>
                <c:pt idx="3">
                  <c:v>DT</c:v>
                </c:pt>
                <c:pt idx="4">
                  <c:v>XGB</c:v>
                </c:pt>
                <c:pt idx="5">
                  <c:v>LGBM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98.74</c:v>
                </c:pt>
                <c:pt idx="1">
                  <c:v>98.73</c:v>
                </c:pt>
                <c:pt idx="2">
                  <c:v>98.52</c:v>
                </c:pt>
                <c:pt idx="3">
                  <c:v>98.74</c:v>
                </c:pt>
                <c:pt idx="4">
                  <c:v>98.74</c:v>
                </c:pt>
                <c:pt idx="5">
                  <c:v>98.68</c:v>
                </c:pt>
              </c:numCache>
            </c:numRef>
          </c:val>
        </c:ser>
        <c:ser>
          <c:idx val="1"/>
          <c:order val="1"/>
          <c:tx>
            <c:v>Impersonation</c:v>
          </c:tx>
          <c:spPr>
            <a:solidFill xmlns:a="http://schemas.openxmlformats.org/drawingml/2006/main">
              <a:srgbClr val="F59E0B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RF</c:v>
                </c:pt>
                <c:pt idx="1">
                  <c:v>ET</c:v>
                </c:pt>
                <c:pt idx="2">
                  <c:v>HistGB</c:v>
                </c:pt>
                <c:pt idx="3">
                  <c:v>DT</c:v>
                </c:pt>
                <c:pt idx="4">
                  <c:v>XGB</c:v>
                </c:pt>
                <c:pt idx="5">
                  <c:v>LGBM</c:v>
                </c:pt>
              </c:strCache>
            </c:str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97.57</c:v>
                </c:pt>
                <c:pt idx="1">
                  <c:v>97.65</c:v>
                </c:pt>
                <c:pt idx="2">
                  <c:v>98.68</c:v>
                </c:pt>
                <c:pt idx="3">
                  <c:v>97.52</c:v>
                </c:pt>
                <c:pt idx="4">
                  <c:v>98.69</c:v>
                </c:pt>
                <c:pt idx="5">
                  <c:v>97.12</c:v>
                </c:pt>
              </c:numCache>
            </c:numRef>
          </c:val>
        </c:ser>
        <c:ser>
          <c:idx val="2"/>
          <c:order val="2"/>
          <c:tx>
            <c:v>Normal</c:v>
          </c:tx>
          <c:spPr>
            <a:solidFill xmlns:a="http://schemas.openxmlformats.org/drawingml/2006/main">
              <a:srgbClr val="0E3154"/>
            </a:solidFill>
          </c:spPr>
          <c:invertIfNegative val="0"/>
          <c:cat>
            <c:strRef>
              <c:f>'Chart Data'!$E$2:$E$7</c:f>
              <c:strCache>
                <c:ptCount val="6"/>
                <c:pt idx="0">
                  <c:v>RF</c:v>
                </c:pt>
                <c:pt idx="1">
                  <c:v>ET</c:v>
                </c:pt>
                <c:pt idx="2">
                  <c:v>HistGB</c:v>
                </c:pt>
                <c:pt idx="3">
                  <c:v>DT</c:v>
                </c:pt>
                <c:pt idx="4">
                  <c:v>XGB</c:v>
                </c:pt>
                <c:pt idx="5">
                  <c:v>LGBM</c:v>
                </c:pt>
              </c:strCache>
            </c:strRef>
          </c:cat>
          <c:val>
            <c:numRef>
              <c:f>'Chart Data'!$F$2:$F$7</c:f>
              <c:numCache>
                <c:formatCode>0.0</c:formatCode>
                <c:ptCount val="6"/>
                <c:pt idx="0">
                  <c:v>98.77</c:v>
                </c:pt>
                <c:pt idx="1">
                  <c:v>98.77</c:v>
                </c:pt>
                <c:pt idx="2">
                  <c:v>98.78</c:v>
                </c:pt>
                <c:pt idx="3">
                  <c:v>98.77</c:v>
                </c:pt>
                <c:pt idx="4">
                  <c:v>98.79</c:v>
                </c:pt>
                <c:pt idx="5">
                  <c:v>98.76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C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99"/>
          <c:min val="96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CE7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4F8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263A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4F8FC"/>
    </a:solidFill>
    <a:ln xmlns:a="http://schemas.openxmlformats.org/drawingml/2006/main" w="0">
      <a:solidFill>
        <a:srgbClr val="F4F8FC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026A6-CC08-4D64-8E8C-28C657385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6f96b3e344eda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4346A-73D2-4E80-9DA0-C9ABE7A6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74273-6844-4ABD-A3D3-2410A7B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140C-622D-4C88-A3EC-AFBD1E8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0B8D9"/>
                </a:solidFill>
                <a:latin typeface="Segoe UI"/>
                <a:ea typeface="Segoe UI"/>
                <a:cs typeface="Segoe UI"/>
              </a:rPr>
              <a:t>AWID3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9E08B-6BA9-4CF0-8F83-001D6C6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333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Wi Fi Intrusion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A9B33-906D-42EF-88C5-FF42F621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4E5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4E5F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4E5F4"/>
                </a:solidFill>
                <a:latin typeface="Segoe UI"/>
                <a:ea typeface="Segoe UI"/>
                <a:cs typeface="Segoe UI"/>
              </a:rPr>
              <a:t>A claim audited analysis of three class classification and its path to operational detection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26C35-EAF4-429A-968D-4E97C2DD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SPIROS GROUZTIDIS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52F88-D2F7-4827-87E3-8E6FD334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0">
                <a:solidFill>
                  <a:srgbClr val="A9C2D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9C2D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9C2D8"/>
                </a:solidFill>
                <a:latin typeface="Segoe UI"/>
                <a:ea typeface="Segoe UI"/>
                <a:cs typeface="Segoe UI"/>
              </a:rPr>
              <a:t>Public portfolio edition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80071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CE08F-A35B-4710-8D33-2F09CE78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5B6FA-094F-4F8D-BAC7-218A4A84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75DD3-A0AC-4CEC-8E52-CEA27A51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study in five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37311-35AA-4C9D-8C5E-E5719964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BA3FE-B5D8-4FA3-81E8-0DB09E4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CD9E8-AB76-4F65-BB38-60935B1F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0554B-3753-4757-9BDB-A6398210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621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What does AWID3 represent?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1212F-4C7E-4C18-84DF-1C241F9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81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55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Dataset context and the assignment's three class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C309F-69E4-48DF-9224-3C64D1C6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C9269-59BE-4540-86C9-276A1F42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A8533-A7CF-45F6-9810-92AAE749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38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How was leakage controlled?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D56EE-F78C-4812-9FFB-B1516B3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87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Capture groups, feature boundaries, and macro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DE0C6-499F-4E4D-AACD-910EBC8A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241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A08E6-87A7-4255-81AB-BE109073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A996B-EE78-44D5-8821-73BC2870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What do the reported results show?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76624-F6FC-498C-BDB1-DC9AD7A3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Model comparison and class level variation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11945-51CB-4231-A391-90D9831F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004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98701-FF06-463E-802B-7D5F1864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08BCF-8D6E-4417-A647-D560564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Which claims required correction?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5105C-1F82-4084-9C1F-BC68A66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Metric interpretation and reproducibility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17DA7-9498-42D3-B8DF-62F42838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767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74A72-EFF8-4021-8C74-70406E9F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785AD-8E70-40A3-BF62-E8BBED01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How does this become a detection capability?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B7AE3-6862-4549-A230-AA8953F7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863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929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Sensor, correlation, validation, and response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D5892-C5DF-4E3D-8F00-7AA740AF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530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9349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52BC4-8BC1-4815-96BB-E61C3D08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D9601-D99C-4F2C-8A20-FE257208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EXECUTIVE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9F666-1511-4207-9FCA-6B2F71C2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Strong reported scores require an evidence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3895E-848C-461B-B978-DF2C9F1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CEA0A-2AC1-4D84-AC4B-ECC59319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D01FD-2FF1-4C00-9435-EC3DDA9E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57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98.74%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7B725-285C-49A2-ABBD-06363F78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highest reported macro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BA809-4D58-440D-95FA-1F3343B8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647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>
            <a:defPPr algn="l">
              <a:defRPr sz="21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The result table is internally consistent, but the original dataset snapshot, training code, split manifest, models, and prediction export were not found.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4F999-267A-4257-875E-1C9B4435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1D02D-FD2D-46F1-B38C-BC09E705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F9D7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F9D7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F9D75"/>
                </a:solidFill>
                <a:latin typeface="Segoe UI"/>
                <a:ea typeface="Segoe UI"/>
                <a:cs typeface="Segoe UI"/>
              </a:rPr>
              <a:t>SUPPORTED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28555-EEA2-4D0B-8A0B-20D2659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Six model tables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Class level F1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Dataset paper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Official AWID documentation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6B42B-E725-4B8A-ADC9-AA7F8D2E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48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NOT VERIFIED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D408F-CC90-448D-A2EE-CEA1A08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Exact preprocessing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Capture allocation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Timing environment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Saved predictions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C5952-A9C9-4224-A7F0-9BC1D0B8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PUBLIC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3BAB8-68E8-4D91-B87E-8F14B25A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Reported academic results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Reference pipeline included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No production readiness claim</a:t>
            </a:r>
          </a:p>
        </p:txBody>
      </p:sp>
    </p:spTree>
    <p:extLst>
      <p:ext uri="{BB962C8B-B14F-4D97-AF65-F5344CB8AC3E}">
        <p14:creationId xmlns:p14="http://schemas.microsoft.com/office/powerpoint/2010/main" val="127207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F84EE-FA52-4560-B3AA-A5F0AA55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0F98F-C177-477D-878C-A3426F19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DATASET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9EA69-2061-49F0-AC16-3D858513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assignment uses a three class AWID3 subset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041A7-8E26-4ECB-8604-7D6B7FCB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DE597-B1A9-4B06-BE4C-AC058B83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31FF4-B18C-4EDD-AC57-96B3FAEA1C74}"/>
              </a:ext>
            </a:extLst>
          </p:cNvPr>
          <p:cNvGraphicFramePr/>
          <p:nvPr/>
        </p:nvGraphicFramePr>
        <p:xfrm>
          <a:off xmlns:a="http://schemas.openxmlformats.org/drawingml/2006/main" x="685800" y="1771650"/>
          <a:ext xmlns:a="http://schemas.openxmlformats.org/drawingml/2006/main" cx="5429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00250"/>
                <a:gridCol w="1333500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Class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Share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Normal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11,880,478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96.65%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Flooding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305,876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2.49%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Impersonation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106,162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0.86%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F9850AF-5F60-4CD8-AEFE-BE3ADDC1A605}"/>
              </a:ext>
            </a:extLst>
          </p:cNvPr>
          <p:cNvGraphicFramePr/>
          <p:nvPr/>
        </p:nvGraphicFramePr>
        <p:xfrm>
          <a:off xmlns:a="http://schemas.openxmlformats.org/drawingml/2006/main" x="6762750" y="1466850"/>
          <a:ext xmlns:a="http://schemas.openxmlformats.org/drawingml/2006/main" cx="428625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9a7585883848e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97141-75EA-43B6-9FE8-94158807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Scope warning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BA08E-13B0-43BF-8FD5-E51DB9F2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817"/>
          </a:bodyPr>
          <a:lstStyle xmlns:a="http://schemas.openxmlformats.org/drawingml/2006/main">
            <a:defPPr algn="l">
              <a:defRPr sz="15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AWID3 contains a broader attack taxonomy. The three labels above describe the archived assignment, not the entire corpus.</a:t>
            </a:r>
          </a:p>
        </p:txBody>
      </p:sp>
    </p:spTree>
    <p:extLst>
      <p:ext uri="{BB962C8B-B14F-4D97-AF65-F5344CB8AC3E}">
        <p14:creationId xmlns:p14="http://schemas.microsoft.com/office/powerpoint/2010/main" val="1863064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26E1E-FBA9-473A-80E6-F857DD0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7BC94-0B59-4540-8479-89BB080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ATTACK TAXONOMY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DE0D0-F532-4B60-82E1-C68D4EA1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537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public labels combine distinct wireless attack behaviors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2F5B9-C0B3-43BF-9945-A3BCD20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79F93-2FFE-4E4E-AB90-77E3C0B4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12D87-A4C4-4115-9C39-4B95A5A9BDE4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095500"/>
                <a:gridCol w="4533900"/>
              </a:tblGrid>
              <a:tr h="598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Public class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Attack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Primary effect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Detection context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Flooding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Deauthentication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Availability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Management frame bursts and client churn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Flooding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Disassociation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Availability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Disconnect and reconnect patterns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Flooding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Association flooding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Resource pressure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Request rates and source diversity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Flooding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Kr00k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Confidentiality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Disassociation context and frame protection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Impersonation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Rogue AP / Evil Twin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Interception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SSID, BSSID, radio, portal, and identity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Impersonation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KRACK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Key reinstallation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Handshake retransmission and nonce context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7117-C7BA-4D0D-9193-B0BA8876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3154"/>
                </a:solidFill>
                <a:latin typeface="Segoe UI"/>
                <a:ea typeface="Segoe UI"/>
                <a:cs typeface="Segoe UI"/>
              </a:rPr>
              <a:t>A frame classifier contributes evidence. It does not prove exploitation or user compromise without corroboration.</a:t>
            </a:r>
          </a:p>
        </p:txBody>
      </p:sp>
    </p:spTree>
    <p:extLst>
      <p:ext uri="{BB962C8B-B14F-4D97-AF65-F5344CB8AC3E}">
        <p14:creationId xmlns:p14="http://schemas.microsoft.com/office/powerpoint/2010/main" val="973472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44360-6782-4EDA-B645-368AE219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9250-7197-4537-876A-9B657FBB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FEATURE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312E8-F422-4A25-AF3C-C1208089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Sixteen compact features define the model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F34A5-E4F5-4AC5-AA8A-7A2802E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74746-922E-4026-982A-718A3F5B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F43B3-6AB7-48A4-8F9F-ED4DFEF7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l">
              <a:def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166E0-5896-4D02-99B4-0B87C048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FRAME AND RADIO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B1EC8-5C4E-448C-9693-4FB7BEE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38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frame.len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radiotap.length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radiotap.dbm_antsignal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wlan.duration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C4F46-DA26-440D-BBE8-7CE0696B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002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50330-3345-456D-B9B6-F17E3156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581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l">
              <a:def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9C88F-4D45-4CB7-921D-C036225F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38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CHANNEL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73EC7-9910-437D-924D-3BDEA2E6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33650"/>
            <a:ext cx="238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radiotap.present.tsft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radiotap.channel.freq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channel.type.cck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channel.type.ofdm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D138B-5A20-45AE-B860-5418362A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6002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C0F8A-63BD-4295-AAA8-84F5F378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l">
              <a:def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BF7E4-6980-43A5-90D5-7211084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FRAME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BE3BB-6639-4470-AE69-7C6F65EA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238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wlan.fc.type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wlan.fc.subtype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wlan.fc.ds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wlan.fc.protected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130E6-5AE2-4415-821B-80B7C8B5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02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1E9C4-2538-443F-8768-FE7D60F5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81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l">
              <a:def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B76BD-EFCA-4503-B248-8EF715B7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38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FRAME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98A72-DD4E-43D3-9819-7CD522DE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33650"/>
            <a:ext cx="238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wlan.fc.frag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wlan.fc.retry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wlan.fc.pwrmgt</a:t>
            </a:r>
          </a:p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wlan.fc.moredata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87A4A-5040-4090-BDCE-11D17FBB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741FF-40EC-438A-8442-8B0FE90A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>
            <a:defPPr algn="l">
              <a:defRPr sz="1125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TRANSFER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F24F8-D2B2-44F2-B4AF-B93F919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Signal strength, channel frequency, and capture metadata can encode the lab environment. Their value must survive device, location, and time holdouts.</a:t>
            </a:r>
          </a:p>
        </p:txBody>
      </p:sp>
    </p:spTree>
    <p:extLst>
      <p:ext uri="{BB962C8B-B14F-4D97-AF65-F5344CB8AC3E}">
        <p14:creationId xmlns:p14="http://schemas.microsoft.com/office/powerpoint/2010/main" val="1781867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58FCA6-0266-424F-85F3-1E9E907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CC841-9BF0-47AA-87B4-8ED6E17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A3E14-8C5F-428C-9100-DB07EBB0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Capture boundaries matter as much as the classifier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C4844-96E8-45F6-83A8-133A26EF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662EF-189A-444C-929A-FAE19BFE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BE925-1C93-42BB-81CF-E20ADBA9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190750" cy="2000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E8C0E-D792-4F5F-B52C-366E23F1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2E2A8-96A6-486B-8611-FD513557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92FE7-DB1E-42BC-8EEE-16C0C2BB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Map the public three class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0220F-10C5-41A4-931E-AD07DBD6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24050"/>
            <a:ext cx="2190750" cy="2000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496B4-D244-4B84-85FF-B29CBC55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F681C-9043-4485-853D-E60C91E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860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66D03-8B76-42F3-8B2F-7F5D9F2B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157"/>
          </a:bodyPr>
          <a:lstStyle xmlns:a="http://schemas.openxmlformats.org/drawingml/2006/main">
            <a:defPPr algn="l">
              <a:defRPr sz="12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Keep the documented 16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64056-A248-4064-ADEA-30BDCA07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24050"/>
            <a:ext cx="2190750" cy="2000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9525">
            <a:solidFill>
              <a:srgbClr val="1E8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FA371-B6AF-4193-BE87-CCB8276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CD876-DEDC-4FAE-96C5-DFDE8A1A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519A5-FD9E-459C-9607-09656C09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Split complete source captures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93926-E71B-4A31-A98D-75BA9DAD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2190750" cy="2000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4B573-E487-48DB-87F8-D1946317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551D2-9516-489A-A275-6311AE52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7C13E-0EEF-4F91-818E-47548846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Train one declared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155F0-ABC7-435F-A6EF-01573B6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64BA5-8DAD-4B4F-9139-4995FDE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336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1E189-8B5A-4AC6-849E-F34DC785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860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44211-C3A4-4362-A75E-8EDC203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Save metrics, groups, and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2126E-DC7F-4386-9955-4B04B7A5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>
            <a:def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Why GroupShuffleSplit?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CAF876-692F-4AB1-8D3E-5391C68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 packet level random split can place closely related frames from the same capture in both partitions. Grouping by source file makes capture identity a boundary rather than a shortcut.</a:t>
            </a:r>
          </a:p>
        </p:txBody>
      </p:sp>
    </p:spTree>
    <p:extLst>
      <p:ext uri="{BB962C8B-B14F-4D97-AF65-F5344CB8AC3E}">
        <p14:creationId xmlns:p14="http://schemas.microsoft.com/office/powerpoint/2010/main" val="999559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73860-9C63-4837-BE15-495479ED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1F42B-FAAA-43C9-9D9D-C7D29614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MODEL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640AD-A5AF-43F1-BC16-6FCD4F2F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Reported macro F1 differs by only 0.55 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D9049-5EC7-483C-99A4-9BACD857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C8D05-8B84-4013-9681-98AC600C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F913BBA-8B6B-4CA6-9A6E-DC1B88BED018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7429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54c016a16d423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6F4F3-722E-4886-8E7F-08BD7A7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59E0B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59E0B"/>
                </a:solidFill>
                <a:latin typeface="Bahnschrift"/>
                <a:ea typeface="Bahnschrift"/>
                <a:cs typeface="Bahnschrift"/>
              </a:defRPr>
            </a:pPr>
            <a:r>
              <a:rPr sz="4050" b="1">
                <a:solidFill>
                  <a:srgbClr val="F59E0B"/>
                </a:solidFill>
                <a:latin typeface="Bahnschrift"/>
                <a:ea typeface="Bahnschrift"/>
                <a:cs typeface="Bahnschrift"/>
              </a:rPr>
              <a:t>98.74%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037B1-565C-4B9F-954C-B76C485F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413"/>
          </a:bodyPr>
          <a:lstStyle xmlns:a="http://schemas.openxmlformats.org/drawingml/2006/main">
            <a:defPPr algn="l">
              <a:defRPr sz="15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XGBoost</a:t>
            </a:r>
          </a:p>
          <a:p xmlns:a="http://schemas.openxmlformats.org/drawingml/2006/main">
            <a:pPr algn="l">
              <a:defRPr sz="15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highest reported macro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1E06E-0542-44F4-AF2B-9A8E4756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3F76C-E84A-4DC5-9805-B642900C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38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>
            <a:defPPr algn="l">
              <a:defRPr sz="150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The compact spread supports a feature and evaluation story. It does not prove cross-site transfer.</a:t>
            </a:r>
          </a:p>
        </p:txBody>
      </p:sp>
    </p:spTree>
    <p:extLst>
      <p:ext uri="{BB962C8B-B14F-4D97-AF65-F5344CB8AC3E}">
        <p14:creationId xmlns:p14="http://schemas.microsoft.com/office/powerpoint/2010/main" val="1097484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0ED72-DA95-4DB2-9D7D-FAD60E5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6FBC0-8358-41D2-883D-4538FB81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CLASS LEVEL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ABAC2-B78B-41C0-896F-7E84B244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Impersonation shows the widest reported variation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BCFF6-9715-46DC-8501-24AD6A59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E2390-7D15-4FD0-8817-5F9C7F9B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6AD1067-6388-47E4-AECE-D0BA2CFEB743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8001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52cf6a2bee45f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3FA10-FFB5-4B9C-9E62-AD90C9D7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431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59E0B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59E0B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59E0B"/>
                </a:solidFill>
                <a:latin typeface="Bahnschrift"/>
                <a:ea typeface="Bahnschrift"/>
                <a:cs typeface="Bahnschrift"/>
              </a:rPr>
              <a:t>97.12–98.69%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0B358-26B8-4041-BA03-FA88857E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52"/>
          </a:bodyPr>
          <a:lstStyle xmlns:a="http://schemas.openxmlformats.org/drawingml/2006/main">
            <a:def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reported Impersonation F1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70252-C982-42C8-9D68-25149637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228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802"/>
          </a:bodyPr>
          <a:lstStyle xmlns:a="http://schemas.openxmlformats.org/drawingml/2006/main">
            <a:defPPr algn="l">
              <a:defRPr sz="15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Review this class independently. Aggregate accuracy is dominated by Normal traffic.</a:t>
            </a:r>
          </a:p>
        </p:txBody>
      </p:sp>
    </p:spTree>
    <p:extLst>
      <p:ext uri="{BB962C8B-B14F-4D97-AF65-F5344CB8AC3E}">
        <p14:creationId xmlns:p14="http://schemas.microsoft.com/office/powerpoint/2010/main" val="791862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4CAAC-BFCB-4AA5-9908-A1668AFA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6C165-A2A1-4D84-A9BA-7E81E43B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REPORTED MODEL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4257F-BF3D-4388-861E-DF450315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39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model table supports comparison, not deployment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00EA1-36DC-4609-8113-C33720E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32456-3722-45BB-859E-C14A8BD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89DD5-CE8D-490D-BB36-851E15C8AB17}"/>
              </a:ext>
            </a:extLst>
          </p:cNvPr>
          <p:cNvGraphicFramePr/>
          <p:nvPr/>
        </p:nvGraphicFramePr>
        <p:xfrm>
          <a:off xmlns:a="http://schemas.openxmlformats.org/drawingml/2006/main" x="590550" y="1581150"/>
          <a:ext xmlns:a="http://schemas.openxmlformats.org/drawingml/2006/main" cx="110109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381125"/>
                <a:gridCol w="1381125"/>
                <a:gridCol w="1381125"/>
                <a:gridCol w="1381125"/>
                <a:gridCol w="1476375"/>
                <a:gridCol w="1143000"/>
              </a:tblGrid>
              <a:tr h="5197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Accuracy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Bal Acc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Macro 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Macro 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Macro 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Fit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97.95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95.5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Extra Trees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152.2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HistGradientBoosting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46.2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Decision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97.92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11.8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XGBoost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1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75.6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LightGBM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97.66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98.19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28.0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62554-2882-49CB-B696-97D63537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62"/>
          </a:bodyPr>
          <a:lstStyle xmlns:a="http://schemas.openxmlformats.org/drawingml/2006/main">
            <a:defPPr algn="l">
              <a:defRPr sz="1500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E3154"/>
                </a:solidFill>
                <a:latin typeface="Segoe UI"/>
                <a:ea typeface="Segoe UI"/>
                <a:cs typeface="Segoe UI"/>
              </a:rPr>
              <a:t>Fit time is offline training cost. Real time suitability requires separate prediction throughput and end to end latency tests.</a:t>
            </a:r>
          </a:p>
        </p:txBody>
      </p:sp>
    </p:spTree>
    <p:extLst>
      <p:ext uri="{BB962C8B-B14F-4D97-AF65-F5344CB8AC3E}">
        <p14:creationId xmlns:p14="http://schemas.microsoft.com/office/powerpoint/2010/main" val="19134623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45FC2-90A1-46D7-BF91-8A507738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7FA3B-032E-4D14-BAFF-170A4A87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CLAIM 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C1737-65E5-4D3C-ACF2-FC94016F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F1 alone cannot produce a missed attack 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E9A37-AB58-4154-98D5-CB2450F7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D47F-A927-4D94-9C1E-97F5367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2C3C4-88BE-46FA-A167-7CD3F266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F1 = 2 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1F20D-FC5D-40FE-A435-25ECA5DE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76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precision ×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41A67-8CA1-466A-BC6F-C1FE0BBC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4F305-268D-4E0A-B4E3-267F2C9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19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precision + 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CA6B3-A12C-408D-AF03-BBE1B14C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 value of 98.69% does not mean 13 attacks were missed per 1,000. The miss count requires recall, the number of actual attacks, the threshold, and the confusion matrix for the same test 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498B9-1884-41CD-A3E9-CD793F3D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A8AC7-1BA7-48AD-A367-B95A8F88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ARCHIVED COUNTS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76893-3474-43C7-9A7A-9A1385DC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11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Selected false negative and false positive counts exist in the source deck.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EB829-5FE2-44A5-B0E1-10F77991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81"/>
          </a:bodyPr>
          <a:lstStyle xmlns:a="http://schemas.openxmlformats.org/drawingml/2006/main">
            <a:defPPr algn="l">
              <a:defRPr sz="15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They remain reported and unverified because the test class totals and prediction export were not found.</a:t>
            </a:r>
          </a:p>
        </p:txBody>
      </p:sp>
    </p:spTree>
    <p:extLst>
      <p:ext uri="{BB962C8B-B14F-4D97-AF65-F5344CB8AC3E}">
        <p14:creationId xmlns:p14="http://schemas.microsoft.com/office/powerpoint/2010/main" val="1844842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4B115-8981-4B90-BAD0-B1F0FE1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61448-D3BF-47AD-BF42-D34B083C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INTERPRETABILITY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6AAFA-5CBA-4F3B-B706-705CC335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Feature importance is an association, not a cause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8BA7E-7F5D-4724-ADA7-5F478ED1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FA971-4178-4FFE-8E4E-8797F1C5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3A36A-AD7F-4B1C-9917-47E4B7B56CF9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714750"/>
                <a:gridCol w="4391025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Feature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Plausible signal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Transfer concern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wlan.fc.type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Management, control, and data frame mix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Attack scripts and normal workloads can change the mix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frame.len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Short management frames versus larger data frames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Payload and device behavior affect size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radiotap.dbm_antsignal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Radio difference between legitimate and rogue transmitters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Sensor position and environment dominate signal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wlan.fc.protected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Protected versus unprotected frame behavior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PMF, firmware, and attack stage affect the bit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wlan.fc.subtype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Specific management or control activity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Legitimate roaming and maintenance can resemble attacks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45D09-5F43-40A1-B049-1475CC6C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Required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A9153-CBDF-416B-AB7E-6776CC54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Ablation, permutation checks, and device, location, and time holdouts must confirm that each signal survives outside the original capture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2885313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1330C-2001-4E82-903F-965BCD49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67AB6-BA77-41E1-A36D-7C363D16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DETECTION ENGINEERING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F5E5A-F23B-4948-B603-9D55352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Operational detection needs layered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F02FC-EEF5-47D1-ABFF-69DDCAD0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84A1E-C61D-4A7A-B245-06A5841D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AF7B0-4913-4233-83A9-7A5CC2D7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E6762-CDAA-4024-9BB5-88C81D7A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8C966-7B93-4285-B29B-E5FC2027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34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Monitor mode frames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Sensor and channel 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1B2B3-03C9-4D3A-9C7B-553461F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670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880"/>
          </a:bodyPr>
          <a:lstStyle xmlns:a="http://schemas.openxmlformats.org/drawingml/2006/main">
            <a:def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BDB56-FCF0-4B61-B18B-35C42CA4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DBFB6-86A3-444E-B159-A8C323CE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7AD12-CACC-4AD1-979C-95D0AED0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24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Management frame rules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Handshake anomalies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438C1-4462-4F15-9A5E-689A8CB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880"/>
          </a:bodyPr>
          <a:lstStyle xmlns:a="http://schemas.openxmlformats.org/drawingml/2006/main">
            <a:def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2CA51-FB39-4CE0-A52F-A9419776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383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3154"/>
          </a:solidFill>
          <a:ln xmlns:a="http://schemas.openxmlformats.org/drawingml/2006/main" w="9525">
            <a:solidFill>
              <a:srgbClr val="0E31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E8B3F-16DC-4351-85CC-57134A58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05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0B8D9"/>
                </a:solidFill>
                <a:latin typeface="Segoe UI"/>
                <a:ea typeface="Segoe UI"/>
                <a:cs typeface="Segoe UI"/>
              </a:rPr>
              <a:t>BASELINE +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12E25-EC6F-4A5C-9DB1-04800321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Site behavior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Three class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1507F-3CB3-4B04-A46D-020FD212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880"/>
          </a:bodyPr>
          <a:lstStyle xmlns:a="http://schemas.openxmlformats.org/drawingml/2006/main">
            <a:def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9FF15-4FD2-4A2F-858A-B71CA710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35FD9-359B-468A-A46D-7E86C7A3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05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CORRELATION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22EE6-322F-4E0C-A05C-D52BE11F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13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AP, RADIUS, DHCP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Endpoint and network 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C5710-0020-49C6-A90E-A0A6EE37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880"/>
          </a:bodyPr>
          <a:lstStyle xmlns:a="http://schemas.openxmlformats.org/drawingml/2006/main">
            <a:def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7B9A9-96D4-4114-A643-36B7F0EB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8E7C5-B573-4F7D-B7F2-BA79F0F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05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TRIAGE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3A95C-265A-442B-ADEC-B78F2D6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8130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50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Evidence bundle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Manual containment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55179-DE23-4AD4-B7AC-1EFC80E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CONTROL PRINCIPLE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FAFA3-9F4A-489C-8826-2DD45E87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037"/>
          </a:bodyPr>
          <a:lstStyle xmlns:a="http://schemas.openxmlformats.org/drawingml/2006/main">
            <a:defPPr algn="l">
              <a:defRPr sz="20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Machine learning contributes a score and explanation. Corroborating telemetry determines the alert and the response.</a:t>
            </a:r>
          </a:p>
        </p:txBody>
      </p:sp>
    </p:spTree>
    <p:extLst>
      <p:ext uri="{BB962C8B-B14F-4D97-AF65-F5344CB8AC3E}">
        <p14:creationId xmlns:p14="http://schemas.microsoft.com/office/powerpoint/2010/main" val="11496250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5A31B-B770-4BB2-A49F-9F4FAA51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218AD-6DF5-48C1-8528-8238CDA6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46F3B-8330-4BB5-844F-3238F2C8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public edition makes the missing evidence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8E588-D79A-472F-B3BB-355F2BDB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9AC55-D2B2-4BD6-B138-0228588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5586F-6651-4856-B0F8-CE0F0A9F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F9D7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F9D7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F9D75"/>
                </a:solidFill>
                <a:latin typeface="Segoe UI"/>
                <a:ea typeface="Segoe UI"/>
                <a:cs typeface="Segoe UI"/>
              </a:rPr>
              <a:t>AVAILABLE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5B921-A5F6-4C69-9FBC-CB4228A3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Archived result tables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Class level scores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Dataset paper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Official corpus documentation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Reference implementation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Arithmetic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DADD7-5A4E-414F-A8C2-2BFDD18F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6210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3E258-49D7-440E-81D1-736D10C8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19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C4453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4453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44536"/>
                </a:solidFill>
                <a:latin typeface="Segoe UI"/>
                <a:ea typeface="Segoe UI"/>
                <a:cs typeface="Segoe UI"/>
              </a:rPr>
              <a:t>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822D0-762C-4E37-B7F0-9D54D21A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428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Original data snapshot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Source code and notebook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Exact split manifest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Package versions and hardware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Saved models and predictions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Execution 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16462-90FA-4C91-ACC4-7F83AF27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Release 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44400-BD6F-4CF4-B482-D3737EF7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054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 transparent portfolio study with reported results and a fresh reference pipeline. No independent reproduction claim.</a:t>
            </a:r>
          </a:p>
        </p:txBody>
      </p:sp>
    </p:spTree>
    <p:extLst>
      <p:ext uri="{BB962C8B-B14F-4D97-AF65-F5344CB8AC3E}">
        <p14:creationId xmlns:p14="http://schemas.microsoft.com/office/powerpoint/2010/main" val="12698753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70CC2-AC81-41A6-B3B1-140460EF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3D5B7-A653-4608-A5B0-43C3BE7B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B6044-9AFA-4D20-91AC-1E8C4EE3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A fresh recorded run should precede the homelab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9C4B9-7904-43CD-84BA-A517A143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103F0-CBBB-4CF1-BDC6-A195568E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394A3-6E11-4F81-8ADD-9115AE49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64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EBECD-F4B3-44C6-972C-905A84C6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ACQUIRE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35C2A-FF37-4BAD-9C36-A9A1C615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668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085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Obtain the authorized AWID3 release. Record terms, hashes, and file manifest.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54280-3C52-47F4-AD65-B3EA2E2A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717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C4EF2-FE87-40FD-B156-D52FDAFC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64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4C4CB-06A7-49E2-ACB4-E258E1E0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REPRODUCE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11368-2E0D-4C1E-B564-7362A274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1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681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Run fixed capture groups. Export predictions, metrics, model, split, and environment.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5EF0E-5B95-4C1A-9D92-D52472C2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3351A-4883-4C34-87C1-2519CEB9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4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F9250-DA92-4C3F-8F9A-7DD32991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041B8-15A6-4CC1-BC31-C3F41FE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841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Add later time, device, and location holdouts. Measure variance and calibration.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200B1-616E-491B-B5EB-4185AFD6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16222-8E99-41F4-8F16-C292E88B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4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925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63C0C-9E1B-47BE-A0C0-5D2663F9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OPERATE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67078-C1DA-41B1-B0F2-8E66C5AE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815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681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Build the monitor mode sensor, SIEM correlation, alert review, and response runbook.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117CB-1E1C-45E5-8975-A230D2B0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51180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7F163-40D9-45EC-9B45-77C906D4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38E3E-940C-4FCF-B3E7-97013535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9D3AD-3FF8-4EC9-90C0-389E59A7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References and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CD10C-64A0-4444-9C77-BB3BDA02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660AA-B4C1-4020-9D76-49BC34D9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AWID3 WI FI INTRUSION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D5883-7CFA-4C91-9A58-BE4A4D99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PRIMARY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25073-EC74-4E55-8C89-84801EB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2390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Chatzoglou, Kambourakis, and Kolias</a:t>
            </a:r>
          </a:p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Empirical Evaluation of Attacks Against IEEE 802.11 Enterprise Networks: The AWID3 Dataset</a:t>
            </a:r>
          </a:p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IEEE Access 9, 2021  |  DOI 10.1109/ACCESS.2021.3061609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Chatzoglou, Kambourakis, Kolias, and Smiliotopoulos</a:t>
            </a:r>
          </a:p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Pick Quality Over Quantity: Expert Feature Selection and Data Preprocessing for 802.11 Intrusion Detection Systems</a:t>
            </a:r>
          </a:p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IEEE Access 10, 2022  |  DOI 10.1109/ACCESS.2022.3183597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Official dataset site</a:t>
            </a:r>
          </a:p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https://icsdweb.aegean.gr/awid/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D3B03-81FE-4315-B531-C0A52662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C8925-BB2D-438C-9C3C-1E06C26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87C92-3F5E-4B87-982B-7A470A3A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7"/>
          </a:bodyPr>
          <a:lstStyle xmlns:a="http://schemas.openxmlformats.org/drawingml/2006/main">
            <a:def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The original Greek presentation was collaborative university coursework by Spiros Grouztidis and two classmates. Classmate names and student identifiers are omitted from this public edition for privacy.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B13DC-FF0E-422B-9082-F4AD2B57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434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825"/>
          </a:bodyPr>
          <a:lstStyle xmlns:a="http://schemas.openxmlformats.org/drawingml/2006/main">
            <a:defPPr algn="l">
              <a:defRPr sz="14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3154"/>
                </a:solidFill>
                <a:latin typeface="Segoe UI"/>
                <a:ea typeface="Segoe UI"/>
                <a:cs typeface="Segoe UI"/>
              </a:rPr>
              <a:t>English rewrite, public documentation, reusable code, claim audit, and detection engineering extension: Spiros Grouztidis.</a:t>
            </a:r>
          </a:p>
        </p:txBody>
      </p:sp>
    </p:spTree>
    <p:extLst>
      <p:ext uri="{BB962C8B-B14F-4D97-AF65-F5344CB8AC3E}">
        <p14:creationId xmlns:p14="http://schemas.microsoft.com/office/powerpoint/2010/main" val="1842293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2026-10-15T20:01:44.9210000Z</dcterms:created>
  <dcterms:modified xsi:type="dcterms:W3CDTF">2026-10-15T20:01:44.9210000Z</dcterms:modified>
</coreProperties>
</file>